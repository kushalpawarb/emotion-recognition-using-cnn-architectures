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Cantarell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xNqxLtNM5qKxrFnZzBiiV+g50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antarell-regular.fntdata"/><Relationship Id="rId14" Type="http://schemas.openxmlformats.org/officeDocument/2006/relationships/slide" Target="slides/slide9.xml"/><Relationship Id="rId17" Type="http://schemas.openxmlformats.org/officeDocument/2006/relationships/font" Target="fonts/Cantarell-italic.fntdata"/><Relationship Id="rId16" Type="http://schemas.openxmlformats.org/officeDocument/2006/relationships/font" Target="fonts/Cantarell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Cantarel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211e64fa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211e64fa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211e64fa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2131e8f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2131e8f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32131e8f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2131e8fb7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2131e8fb7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32131e8fb7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3303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6000"/>
              <a:buFont typeface="Cantarell"/>
              <a:buNone/>
              <a:defRPr sz="6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4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233039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88582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6" name="Google Shape;2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5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" name="Google Shape;30;p25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233039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838200" y="365125"/>
            <a:ext cx="88582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" name="Google Shape;36;p29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3303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6000"/>
              <a:buFont typeface="Cantarell"/>
              <a:buNone/>
              <a:defRPr sz="6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1" name="Google Shape;4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" name="Google Shape;45;p27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3d90e39a2c_2_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13d90e39a2c_2_3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13d90e39a2c_2_3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13d90e39a2c_2_30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1" name="Google Shape;51;g13d90e39a2c_2_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97385" y="90169"/>
            <a:ext cx="2073324" cy="103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solidFill>
          <a:srgbClr val="23303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type="title"/>
          </p:nvPr>
        </p:nvSpPr>
        <p:spPr>
          <a:xfrm>
            <a:off x="839788" y="365125"/>
            <a:ext cx="88566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b="1"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b="1"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1" name="Google Shape;61;p28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23303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title"/>
          </p:nvPr>
        </p:nvSpPr>
        <p:spPr>
          <a:xfrm>
            <a:off x="838199" y="365125"/>
            <a:ext cx="88487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0" name="Google Shape;70;p26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233039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p30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solidFill>
          <a:srgbClr val="233039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3200"/>
              <a:buFont typeface="Cantarell"/>
              <a:buNone/>
              <a:defRPr sz="32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>
            <a:off x="5183188" y="1116000"/>
            <a:ext cx="6172200" cy="474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3200"/>
              <a:buChar char="•"/>
              <a:defRPr sz="32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 sz="28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 sz="2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 sz="2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31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5" name="Google Shape;85;p31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solidFill>
          <a:srgbClr val="233039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3200"/>
              <a:buFont typeface="Cantarell"/>
              <a:buNone/>
              <a:defRPr sz="32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/>
          <p:nvPr>
            <p:ph idx="2" type="pic"/>
          </p:nvPr>
        </p:nvSpPr>
        <p:spPr>
          <a:xfrm>
            <a:off x="5183188" y="1116000"/>
            <a:ext cx="6172200" cy="474505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1" name="Google Shape;91;p32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" name="Google Shape;94;p32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233039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>
            <a:off x="838200" y="365125"/>
            <a:ext cx="886777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2" name="Google Shape;102;p33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23303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4"/>
          <p:cNvSpPr txBox="1"/>
          <p:nvPr>
            <p:ph type="title"/>
          </p:nvPr>
        </p:nvSpPr>
        <p:spPr>
          <a:xfrm rot="5400000">
            <a:off x="7596486" y="2419648"/>
            <a:ext cx="488572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4"/>
          <p:cNvSpPr txBox="1"/>
          <p:nvPr>
            <p:ph idx="10" type="dt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1" type="ftr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0" name="Google Shape;110;p34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pdf/2105.03588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s230.stanford.edu/projects_winter_2020/reports/32610274.pdf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1524000" y="1481324"/>
            <a:ext cx="91440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IN" sz="3600">
                <a:solidFill>
                  <a:srgbClr val="D7AC54"/>
                </a:solidFill>
              </a:rPr>
              <a:t>Emotion Classification Using Video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1100099" y="3823871"/>
            <a:ext cx="9991800" cy="18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</a:pPr>
            <a:r>
              <a:rPr b="1" lang="en-IN" sz="2000">
                <a:solidFill>
                  <a:schemeClr val="lt1"/>
                </a:solidFill>
              </a:rPr>
              <a:t>Team - 4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</a:pPr>
            <a:r>
              <a:t/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</a:pPr>
            <a:r>
              <a:rPr b="1" lang="en-IN" sz="2000">
                <a:solidFill>
                  <a:schemeClr val="lt1"/>
                </a:solidFill>
              </a:rPr>
              <a:t>Shiven Yadav S - 1RVU23CSE433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</a:pPr>
            <a:r>
              <a:rPr b="1" lang="en-IN" sz="2000">
                <a:solidFill>
                  <a:schemeClr val="lt1"/>
                </a:solidFill>
              </a:rPr>
              <a:t>Skanda Ramesh Bharadwaja - 1RVU23CSE456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</a:pPr>
            <a:r>
              <a:rPr b="1" lang="en-IN" sz="2000">
                <a:solidFill>
                  <a:schemeClr val="lt1"/>
                </a:solidFill>
              </a:rPr>
              <a:t>Kushal Pawar B - 1RVU23CSE230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</a:pPr>
            <a:r>
              <a:rPr b="1" lang="en-IN" sz="2000">
                <a:solidFill>
                  <a:schemeClr val="lt1"/>
                </a:solidFill>
              </a:rPr>
              <a:t>Dhanush Rajesh - 1RVU23CSE144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8" name="Google Shape;118;p1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826075" y="1246900"/>
            <a:ext cx="10146600" cy="4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lt1"/>
                </a:solidFill>
              </a:rPr>
              <a:t>Objective: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lt1"/>
                </a:solidFill>
              </a:rPr>
              <a:t>Develop a Convolutional Neural Network (CNN) model that can accurately classify human facial expressions into one of seven emotion categories using images from the </a:t>
            </a:r>
            <a:r>
              <a:rPr b="1" lang="en-IN" sz="1700">
                <a:solidFill>
                  <a:schemeClr val="lt1"/>
                </a:solidFill>
              </a:rPr>
              <a:t>FER dataset</a:t>
            </a:r>
            <a:r>
              <a:rPr lang="en-IN" sz="1700">
                <a:solidFill>
                  <a:schemeClr val="lt1"/>
                </a:solidFill>
              </a:rPr>
              <a:t>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lt1"/>
                </a:solidFill>
              </a:rPr>
              <a:t>Problem Description: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lt1"/>
                </a:solidFill>
              </a:rPr>
              <a:t>Facial emotion recognition is a crucial task in various applications, including human-computer interaction, mental health monitoring, and customer sentiment analysis. Given an image of a human face, the goal is to predict the corresponding emotion class among the following: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-IN" sz="1700">
                <a:solidFill>
                  <a:schemeClr val="lt1"/>
                </a:solidFill>
              </a:rPr>
              <a:t>Angry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-IN" sz="1700">
                <a:solidFill>
                  <a:schemeClr val="lt1"/>
                </a:solidFill>
              </a:rPr>
              <a:t>Disgust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-IN" sz="1700">
                <a:solidFill>
                  <a:schemeClr val="lt1"/>
                </a:solidFill>
              </a:rPr>
              <a:t>Fear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-IN" sz="1700">
                <a:solidFill>
                  <a:schemeClr val="lt1"/>
                </a:solidFill>
              </a:rPr>
              <a:t>Happy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-IN" sz="1700">
                <a:solidFill>
                  <a:schemeClr val="lt1"/>
                </a:solidFill>
              </a:rPr>
              <a:t>Neutral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-IN" sz="1700">
                <a:solidFill>
                  <a:schemeClr val="lt1"/>
                </a:solidFill>
              </a:rPr>
              <a:t>Sad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-IN" sz="1700">
                <a:solidFill>
                  <a:schemeClr val="lt1"/>
                </a:solidFill>
              </a:rPr>
              <a:t>Surprise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Dataset(s)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196599" y="1507075"/>
            <a:ext cx="101571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chemeClr val="lt1"/>
                </a:solidFill>
              </a:rPr>
              <a:t>1. Dataset Overview: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</a:rPr>
              <a:t>The </a:t>
            </a:r>
            <a:r>
              <a:rPr b="1" lang="en-IN" sz="1700">
                <a:solidFill>
                  <a:schemeClr val="lt1"/>
                </a:solidFill>
              </a:rPr>
              <a:t>Facial Expression Recognition (FER-2013) dataset</a:t>
            </a:r>
            <a:r>
              <a:rPr lang="en-IN" sz="1700">
                <a:solidFill>
                  <a:schemeClr val="lt1"/>
                </a:solidFill>
              </a:rPr>
              <a:t> is a collection of grayscale facial images labeled with seven different emotions. It is widely used for training machine learning models in facial emotion recognition tasks.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chemeClr val="lt1"/>
                </a:solidFill>
              </a:rPr>
              <a:t>2. Dataset Composition: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Total Images:</a:t>
            </a:r>
            <a:r>
              <a:rPr lang="en-IN" sz="1700">
                <a:solidFill>
                  <a:schemeClr val="lt1"/>
                </a:solidFill>
              </a:rPr>
              <a:t> </a:t>
            </a:r>
            <a:r>
              <a:rPr b="1" lang="en-IN" sz="1700">
                <a:solidFill>
                  <a:schemeClr val="lt1"/>
                </a:solidFill>
              </a:rPr>
              <a:t>35,887</a:t>
            </a:r>
            <a:r>
              <a:rPr lang="en-IN" sz="1700">
                <a:solidFill>
                  <a:schemeClr val="lt1"/>
                </a:solidFill>
              </a:rPr>
              <a:t> images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Image Size:</a:t>
            </a:r>
            <a:r>
              <a:rPr lang="en-IN" sz="1700">
                <a:solidFill>
                  <a:schemeClr val="lt1"/>
                </a:solidFill>
              </a:rPr>
              <a:t> 48x48 pixels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Color Mode:</a:t>
            </a:r>
            <a:r>
              <a:rPr lang="en-IN" sz="1700">
                <a:solidFill>
                  <a:schemeClr val="lt1"/>
                </a:solidFill>
              </a:rPr>
              <a:t> Grayscale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Number of Classes:</a:t>
            </a:r>
            <a:r>
              <a:rPr lang="en-IN" sz="1700">
                <a:solidFill>
                  <a:schemeClr val="lt1"/>
                </a:solidFill>
              </a:rPr>
              <a:t> </a:t>
            </a:r>
            <a:r>
              <a:rPr b="1" lang="en-IN" sz="1700">
                <a:solidFill>
                  <a:schemeClr val="lt1"/>
                </a:solidFill>
              </a:rPr>
              <a:t>7</a:t>
            </a:r>
            <a:r>
              <a:rPr lang="en-IN" sz="1700">
                <a:solidFill>
                  <a:schemeClr val="lt1"/>
                </a:solidFill>
              </a:rPr>
              <a:t> (Each image belongs to one of these classes)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Data Split:</a:t>
            </a:r>
            <a:endParaRPr b="1"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b="1" lang="en-IN" sz="1700">
                <a:solidFill>
                  <a:schemeClr val="lt1"/>
                </a:solidFill>
              </a:rPr>
              <a:t>Training Set:</a:t>
            </a:r>
            <a:r>
              <a:rPr lang="en-IN" sz="1700">
                <a:solidFill>
                  <a:schemeClr val="lt1"/>
                </a:solidFill>
              </a:rPr>
              <a:t> </a:t>
            </a:r>
            <a:r>
              <a:rPr b="1" lang="en-IN" sz="1700">
                <a:solidFill>
                  <a:schemeClr val="lt1"/>
                </a:solidFill>
              </a:rPr>
              <a:t>28,821 images</a:t>
            </a:r>
            <a:endParaRPr b="1"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b="1" lang="en-IN" sz="1700">
                <a:solidFill>
                  <a:schemeClr val="lt1"/>
                </a:solidFill>
              </a:rPr>
              <a:t>Testing Set:</a:t>
            </a:r>
            <a:r>
              <a:rPr lang="en-IN" sz="1700">
                <a:solidFill>
                  <a:schemeClr val="lt1"/>
                </a:solidFill>
              </a:rPr>
              <a:t> </a:t>
            </a:r>
            <a:r>
              <a:rPr b="1" lang="en-IN" sz="1700">
                <a:solidFill>
                  <a:schemeClr val="lt1"/>
                </a:solidFill>
              </a:rPr>
              <a:t>7,066 images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211e64fa5_1_0"/>
          <p:cNvSpPr txBox="1"/>
          <p:nvPr>
            <p:ph type="title"/>
          </p:nvPr>
        </p:nvSpPr>
        <p:spPr>
          <a:xfrm>
            <a:off x="635575" y="169200"/>
            <a:ext cx="8858400" cy="7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/>
              <a:t>Literature Survey</a:t>
            </a:r>
            <a:endParaRPr sz="2400"/>
          </a:p>
        </p:txBody>
      </p:sp>
      <p:sp>
        <p:nvSpPr>
          <p:cNvPr id="139" name="Google Shape;139;g33211e64fa5_1_0"/>
          <p:cNvSpPr txBox="1"/>
          <p:nvPr>
            <p:ph idx="1" type="body"/>
          </p:nvPr>
        </p:nvSpPr>
        <p:spPr>
          <a:xfrm>
            <a:off x="635575" y="893400"/>
            <a:ext cx="10515600" cy="471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Khaireddin, Y., &amp; Chen, Z. (2021). </a:t>
            </a:r>
            <a:r>
              <a:rPr i="1"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Facial Emotion Recognition: State of the Art Performance on FER2013</a:t>
            </a: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Paper Link - </a:t>
            </a:r>
            <a:r>
              <a:rPr lang="en-IN" sz="17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https://arxiv.org/pdf/2105.03588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Models - CNN, Architecture - VGGNet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Datasets - FER-2013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0" name="Google Shape;140;g33211e64fa5_1_0"/>
          <p:cNvSpPr txBox="1"/>
          <p:nvPr>
            <p:ph idx="12" type="sldNum"/>
          </p:nvPr>
        </p:nvSpPr>
        <p:spPr>
          <a:xfrm>
            <a:off x="8610600" y="6471138"/>
            <a:ext cx="2743200" cy="25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1" name="Google Shape;141;g33211e64fa5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8474" y="2686537"/>
            <a:ext cx="3644975" cy="34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3211e64fa5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7650" y="2753250"/>
            <a:ext cx="3703526" cy="33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2131e8fb7_0_0"/>
          <p:cNvSpPr txBox="1"/>
          <p:nvPr>
            <p:ph type="title"/>
          </p:nvPr>
        </p:nvSpPr>
        <p:spPr>
          <a:xfrm>
            <a:off x="838200" y="318725"/>
            <a:ext cx="8858400" cy="587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/>
              <a:t>Literature Survey</a:t>
            </a:r>
            <a:endParaRPr sz="2400"/>
          </a:p>
        </p:txBody>
      </p:sp>
      <p:sp>
        <p:nvSpPr>
          <p:cNvPr id="149" name="Google Shape;149;g332131e8fb7_0_0"/>
          <p:cNvSpPr txBox="1"/>
          <p:nvPr>
            <p:ph idx="1" type="body"/>
          </p:nvPr>
        </p:nvSpPr>
        <p:spPr>
          <a:xfrm>
            <a:off x="838200" y="117247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Khanzada, A., Bai, C., &amp; Celepcikay, F. T. (2020). </a:t>
            </a:r>
            <a:r>
              <a:rPr i="1"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Facial Expression Recognition with Deep Learning: Improving on the State of the Art and Applying to the Real World</a:t>
            </a: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Stanford University. Retrieved from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Paper link - </a:t>
            </a:r>
            <a:r>
              <a:rPr lang="en-IN" sz="17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https://cs230.stanford.edu/projects_winter_2020/reports/32610274.pdf</a:t>
            </a:r>
            <a:r>
              <a:rPr lang="en-IN" sz="1700">
                <a:solidFill>
                  <a:schemeClr val="lt1"/>
                </a:solidFill>
              </a:rPr>
              <a:t> 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</a:rPr>
              <a:t>Models - CNN, ResNet50, SeNet50, VGG16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lt1"/>
                </a:solidFill>
              </a:rPr>
              <a:t>Datasets - FER2013(Main), Extended Cohn-Kanade(CK+), JAFFE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0" name="Google Shape;150;g332131e8fb7_0_0"/>
          <p:cNvSpPr txBox="1"/>
          <p:nvPr>
            <p:ph idx="12" type="sldNum"/>
          </p:nvPr>
        </p:nvSpPr>
        <p:spPr>
          <a:xfrm>
            <a:off x="8610600" y="6471138"/>
            <a:ext cx="2743200" cy="25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1" name="Google Shape;151;g332131e8fb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99" y="3024749"/>
            <a:ext cx="5486826" cy="30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32131e8fb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6675" y="3597300"/>
            <a:ext cx="4988000" cy="14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037934" y="338535"/>
            <a:ext cx="5572800" cy="6222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IN" sz="24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Model </a:t>
            </a:r>
            <a:r>
              <a:rPr b="1" lang="en-IN" sz="24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311700" y="1152474"/>
            <a:ext cx="10213044" cy="443450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lt1"/>
                </a:solidFill>
              </a:rPr>
              <a:t>1. Model Architecture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Framework:</a:t>
            </a:r>
            <a:r>
              <a:rPr lang="en-IN" sz="1700">
                <a:solidFill>
                  <a:schemeClr val="lt1"/>
                </a:solidFill>
              </a:rPr>
              <a:t> TensorFlow/Keras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Type:</a:t>
            </a:r>
            <a:r>
              <a:rPr lang="en-IN" sz="1700">
                <a:solidFill>
                  <a:schemeClr val="lt1"/>
                </a:solidFill>
              </a:rPr>
              <a:t> Convolutional Neural Network (CNN)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Input Shape:</a:t>
            </a:r>
            <a:r>
              <a:rPr lang="en-IN" sz="1700">
                <a:solidFill>
                  <a:schemeClr val="lt1"/>
                </a:solidFill>
              </a:rPr>
              <a:t> (48, 48, 1) (Grayscale images)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Layers Used:</a:t>
            </a:r>
            <a:endParaRPr b="1"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b="1" lang="en-IN" sz="1700">
                <a:solidFill>
                  <a:schemeClr val="lt1"/>
                </a:solidFill>
              </a:rPr>
              <a:t>Conv2D:</a:t>
            </a:r>
            <a:r>
              <a:rPr lang="en-IN" sz="1700">
                <a:solidFill>
                  <a:schemeClr val="lt1"/>
                </a:solidFill>
              </a:rPr>
              <a:t> 32, 64, 128 filters with ReLU activation</a:t>
            </a:r>
            <a:endParaRPr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b="1" lang="en-IN" sz="1700">
                <a:solidFill>
                  <a:schemeClr val="lt1"/>
                </a:solidFill>
              </a:rPr>
              <a:t>MaxPooling2D:</a:t>
            </a:r>
            <a:r>
              <a:rPr lang="en-IN" sz="1700">
                <a:solidFill>
                  <a:schemeClr val="lt1"/>
                </a:solidFill>
              </a:rPr>
              <a:t> Reducing spatial dimensions</a:t>
            </a:r>
            <a:endParaRPr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b="1" lang="en-IN" sz="1700">
                <a:solidFill>
                  <a:schemeClr val="lt1"/>
                </a:solidFill>
              </a:rPr>
              <a:t>Dropout:</a:t>
            </a:r>
            <a:r>
              <a:rPr lang="en-IN" sz="1700">
                <a:solidFill>
                  <a:schemeClr val="lt1"/>
                </a:solidFill>
              </a:rPr>
              <a:t> Preventing overfitting (0.25, 0.5 dropout rates)</a:t>
            </a:r>
            <a:endParaRPr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b="1" lang="en-IN" sz="1700">
                <a:solidFill>
                  <a:schemeClr val="lt1"/>
                </a:solidFill>
              </a:rPr>
              <a:t>Flatten:</a:t>
            </a:r>
            <a:r>
              <a:rPr lang="en-IN" sz="1700">
                <a:solidFill>
                  <a:schemeClr val="lt1"/>
                </a:solidFill>
              </a:rPr>
              <a:t> Converting feature maps into a 1D vector</a:t>
            </a:r>
            <a:endParaRPr sz="1700">
              <a:solidFill>
                <a:schemeClr val="lt1"/>
              </a:solidFill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b="1" lang="en-IN" sz="1700">
                <a:solidFill>
                  <a:schemeClr val="lt1"/>
                </a:solidFill>
              </a:rPr>
              <a:t>Dense:</a:t>
            </a:r>
            <a:r>
              <a:rPr lang="en-IN" sz="1700">
                <a:solidFill>
                  <a:schemeClr val="lt1"/>
                </a:solidFill>
              </a:rPr>
              <a:t> 1024 neurons (ReLU), followed by output layer (7 classes, Softmax)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lt1"/>
                </a:solidFill>
              </a:rPr>
              <a:t>2. Compilation &amp; Training Configuration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Loss Function:</a:t>
            </a:r>
            <a:r>
              <a:rPr lang="en-IN" sz="1700">
                <a:solidFill>
                  <a:schemeClr val="lt1"/>
                </a:solidFill>
              </a:rPr>
              <a:t> Categorical </a:t>
            </a:r>
            <a:r>
              <a:rPr lang="en-IN" sz="1700">
                <a:solidFill>
                  <a:schemeClr val="lt1"/>
                </a:solidFill>
              </a:rPr>
              <a:t>Cross Entropy</a:t>
            </a:r>
            <a:r>
              <a:rPr lang="en-IN" sz="1700">
                <a:solidFill>
                  <a:schemeClr val="lt1"/>
                </a:solidFill>
              </a:rPr>
              <a:t> (for multi-class classification)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Optimizer:</a:t>
            </a:r>
            <a:r>
              <a:rPr lang="en-IN" sz="1700">
                <a:solidFill>
                  <a:schemeClr val="lt1"/>
                </a:solidFill>
              </a:rPr>
              <a:t> Adam (learning rate = 0.0001)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Metric:</a:t>
            </a:r>
            <a:r>
              <a:rPr lang="en-IN" sz="1700">
                <a:solidFill>
                  <a:schemeClr val="lt1"/>
                </a:solidFill>
              </a:rPr>
              <a:t> Accuracy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lt1"/>
                </a:solidFill>
              </a:rPr>
              <a:t>3. OpenCV Integration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-IN" sz="1700">
                <a:solidFill>
                  <a:schemeClr val="lt1"/>
                </a:solidFill>
              </a:rPr>
              <a:t>Disabling OpenCL in OpenCV</a:t>
            </a:r>
            <a:r>
              <a:rPr lang="en-IN" sz="1700">
                <a:solidFill>
                  <a:schemeClr val="lt1"/>
                </a:solidFill>
              </a:rPr>
              <a:t> for performance consistency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2131e8fb7_1_3"/>
          <p:cNvSpPr txBox="1"/>
          <p:nvPr>
            <p:ph type="title"/>
          </p:nvPr>
        </p:nvSpPr>
        <p:spPr>
          <a:xfrm>
            <a:off x="838200" y="365125"/>
            <a:ext cx="8858400" cy="64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700">
                <a:solidFill>
                  <a:srgbClr val="D7AC54"/>
                </a:solidFill>
              </a:rPr>
              <a:t>Preliminary Results</a:t>
            </a:r>
            <a:endParaRPr sz="4700"/>
          </a:p>
        </p:txBody>
      </p:sp>
      <p:sp>
        <p:nvSpPr>
          <p:cNvPr id="166" name="Google Shape;166;g332131e8fb7_1_3"/>
          <p:cNvSpPr txBox="1"/>
          <p:nvPr>
            <p:ph idx="12" type="sldNum"/>
          </p:nvPr>
        </p:nvSpPr>
        <p:spPr>
          <a:xfrm>
            <a:off x="8610600" y="6471138"/>
            <a:ext cx="2743200" cy="25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7" name="Google Shape;167;g332131e8fb7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700" y="1327114"/>
            <a:ext cx="5066148" cy="286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32131e8fb7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7925" y="1950200"/>
            <a:ext cx="5146749" cy="35817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32131e8fb7_1_3"/>
          <p:cNvSpPr txBox="1"/>
          <p:nvPr/>
        </p:nvSpPr>
        <p:spPr>
          <a:xfrm>
            <a:off x="655950" y="533200"/>
            <a:ext cx="24276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0A8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32131e8fb7_1_3"/>
          <p:cNvSpPr txBox="1"/>
          <p:nvPr/>
        </p:nvSpPr>
        <p:spPr>
          <a:xfrm>
            <a:off x="327200" y="4511775"/>
            <a:ext cx="41808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lt1"/>
                </a:solidFill>
              </a:rPr>
              <a:t>Overall Accuracy:</a:t>
            </a:r>
            <a:r>
              <a:rPr lang="en-IN" sz="1300">
                <a:solidFill>
                  <a:schemeClr val="lt1"/>
                </a:solidFill>
              </a:rPr>
              <a:t> </a:t>
            </a:r>
            <a:r>
              <a:rPr b="1" lang="en-IN" sz="1300">
                <a:solidFill>
                  <a:schemeClr val="lt1"/>
                </a:solidFill>
              </a:rPr>
              <a:t>62%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lt1"/>
                </a:solidFill>
              </a:rPr>
              <a:t>Best Performing Classes:</a:t>
            </a:r>
            <a:r>
              <a:rPr lang="en-IN" sz="1300">
                <a:solidFill>
                  <a:schemeClr val="lt1"/>
                </a:solidFill>
              </a:rPr>
              <a:t> </a:t>
            </a:r>
            <a:r>
              <a:rPr i="1" lang="en-IN" sz="1300">
                <a:solidFill>
                  <a:schemeClr val="lt1"/>
                </a:solidFill>
              </a:rPr>
              <a:t>Happy</a:t>
            </a:r>
            <a:r>
              <a:rPr lang="en-IN" sz="1300">
                <a:solidFill>
                  <a:schemeClr val="lt1"/>
                </a:solidFill>
              </a:rPr>
              <a:t> (F1-score: 0.80), </a:t>
            </a:r>
            <a:r>
              <a:rPr i="1" lang="en-IN" sz="1300">
                <a:solidFill>
                  <a:schemeClr val="lt1"/>
                </a:solidFill>
              </a:rPr>
              <a:t>Surprised</a:t>
            </a:r>
            <a:r>
              <a:rPr lang="en-IN" sz="1300">
                <a:solidFill>
                  <a:schemeClr val="lt1"/>
                </a:solidFill>
              </a:rPr>
              <a:t> (0.78), </a:t>
            </a:r>
            <a:r>
              <a:rPr i="1" lang="en-IN" sz="1300">
                <a:solidFill>
                  <a:schemeClr val="lt1"/>
                </a:solidFill>
              </a:rPr>
              <a:t>Disgusted</a:t>
            </a:r>
            <a:r>
              <a:rPr lang="en-IN" sz="1300">
                <a:solidFill>
                  <a:schemeClr val="lt1"/>
                </a:solidFill>
              </a:rPr>
              <a:t> (0.67).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lt1"/>
                </a:solidFill>
              </a:rPr>
              <a:t>Weakest Classes:</a:t>
            </a:r>
            <a:r>
              <a:rPr lang="en-IN" sz="1300">
                <a:solidFill>
                  <a:schemeClr val="lt1"/>
                </a:solidFill>
              </a:rPr>
              <a:t> </a:t>
            </a:r>
            <a:r>
              <a:rPr i="1" lang="en-IN" sz="1300">
                <a:solidFill>
                  <a:schemeClr val="lt1"/>
                </a:solidFill>
              </a:rPr>
              <a:t>Fearful</a:t>
            </a:r>
            <a:r>
              <a:rPr lang="en-IN" sz="1300">
                <a:solidFill>
                  <a:schemeClr val="lt1"/>
                </a:solidFill>
              </a:rPr>
              <a:t> (0.45 F1-score) and </a:t>
            </a:r>
            <a:r>
              <a:rPr i="1" lang="en-IN" sz="1300">
                <a:solidFill>
                  <a:schemeClr val="lt1"/>
                </a:solidFill>
              </a:rPr>
              <a:t>Sad</a:t>
            </a:r>
            <a:r>
              <a:rPr lang="en-IN" sz="1300">
                <a:solidFill>
                  <a:schemeClr val="lt1"/>
                </a:solidFill>
              </a:rPr>
              <a:t> (0.49)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lt1"/>
                </a:solidFill>
              </a:rPr>
              <a:t>Confusion Observed:</a:t>
            </a:r>
            <a:r>
              <a:rPr lang="en-IN" sz="1300">
                <a:solidFill>
                  <a:schemeClr val="lt1"/>
                </a:solidFill>
              </a:rPr>
              <a:t> Fearful and Sad emotions are frequently misclassified, with overlap among Neutral, Angry, and Sad categories.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Further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1401900" y="3724700"/>
            <a:ext cx="4020900" cy="17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0A8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708900" y="1710000"/>
            <a:ext cx="10774200" cy="4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lt1"/>
                </a:solidFill>
              </a:rPr>
              <a:t>Enhancing Model Performance: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IN" sz="1600">
                <a:solidFill>
                  <a:schemeClr val="lt1"/>
                </a:solidFill>
              </a:rPr>
              <a:t>Implement </a:t>
            </a:r>
            <a:r>
              <a:rPr b="1" lang="en-IN" sz="1600">
                <a:solidFill>
                  <a:schemeClr val="lt1"/>
                </a:solidFill>
              </a:rPr>
              <a:t>ensemble learning</a:t>
            </a:r>
            <a:r>
              <a:rPr lang="en-IN" sz="1600">
                <a:solidFill>
                  <a:schemeClr val="lt1"/>
                </a:solidFill>
              </a:rPr>
              <a:t> (bagging, boosting, stacking) to improve classification accuracy.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IN" sz="1600">
                <a:solidFill>
                  <a:schemeClr val="lt1"/>
                </a:solidFill>
              </a:rPr>
              <a:t>Fine-tune </a:t>
            </a:r>
            <a:r>
              <a:rPr b="1" lang="en-IN" sz="1600">
                <a:solidFill>
                  <a:schemeClr val="lt1"/>
                </a:solidFill>
              </a:rPr>
              <a:t>hyperparameters</a:t>
            </a:r>
            <a:r>
              <a:rPr lang="en-IN" sz="1600">
                <a:solidFill>
                  <a:schemeClr val="lt1"/>
                </a:solidFill>
              </a:rPr>
              <a:t> (learning rate, dropout rates, optimizer selection) for better generalization.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lt1"/>
                </a:solidFill>
              </a:rPr>
              <a:t>Handling Class Imbalance: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IN" sz="1600">
                <a:solidFill>
                  <a:schemeClr val="lt1"/>
                </a:solidFill>
              </a:rPr>
              <a:t>Use </a:t>
            </a:r>
            <a:r>
              <a:rPr b="1" lang="en-IN" sz="1600">
                <a:solidFill>
                  <a:schemeClr val="lt1"/>
                </a:solidFill>
              </a:rPr>
              <a:t>data augmentation</a:t>
            </a:r>
            <a:r>
              <a:rPr lang="en-IN" sz="1600">
                <a:solidFill>
                  <a:schemeClr val="lt1"/>
                </a:solidFill>
              </a:rPr>
              <a:t> (flipping, rotation, brightness adjustments) for underrepresented emotions.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IN" sz="1600">
                <a:solidFill>
                  <a:schemeClr val="lt1"/>
                </a:solidFill>
              </a:rPr>
              <a:t>Apply </a:t>
            </a:r>
            <a:r>
              <a:rPr b="1" lang="en-IN" sz="1600">
                <a:solidFill>
                  <a:schemeClr val="lt1"/>
                </a:solidFill>
              </a:rPr>
              <a:t>class-weighted loss functions</a:t>
            </a:r>
            <a:r>
              <a:rPr lang="en-IN" sz="1600">
                <a:solidFill>
                  <a:schemeClr val="lt1"/>
                </a:solidFill>
              </a:rPr>
              <a:t> to balance training.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lt1"/>
                </a:solidFill>
              </a:rPr>
              <a:t>Cross-Dataset Generalization: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-IN" sz="1600">
                <a:solidFill>
                  <a:schemeClr val="lt1"/>
                </a:solidFill>
              </a:rPr>
              <a:t>Test the model on </a:t>
            </a:r>
            <a:r>
              <a:rPr b="1" lang="en-IN" sz="1600">
                <a:solidFill>
                  <a:schemeClr val="lt1"/>
                </a:solidFill>
              </a:rPr>
              <a:t>different datasets</a:t>
            </a:r>
            <a:r>
              <a:rPr lang="en-IN" sz="1600">
                <a:solidFill>
                  <a:schemeClr val="lt1"/>
                </a:solidFill>
              </a:rPr>
              <a:t> (AffectNet, RAF-DB) to improve real-world adaptability.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idx="12" type="sldNum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4178808" y="2459736"/>
            <a:ext cx="361028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2021-05-28T05:59:32Z</dcterms:created>
  <dc:creator>Yogendra</dc:creator>
</cp:coreProperties>
</file>